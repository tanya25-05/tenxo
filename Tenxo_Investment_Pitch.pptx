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79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2377440"/>
            <a:ext cx="2743200" cy="38100"/>
          </a:xfrm>
          <a:prstGeom prst="rect">
            <a:avLst/>
          </a:prstGeom>
          <a:solidFill>
            <a:srgbClr val="E5F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Calibri"/>
              </a:defRPr>
            </a:pPr>
            <a:r>
              <a:t>Tenxo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5E6AD2"/>
                </a:solidFill>
                <a:latin typeface="Calibri"/>
              </a:defRPr>
            </a:pPr>
            <a:r>
              <a:t>The Zero-Knowledge GPU Grid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BBBBB"/>
                </a:solidFill>
                <a:latin typeface="Calibri"/>
              </a:defRPr>
            </a:pPr>
            <a:r>
              <a:t>Unlocking the World's Idle GPUs for the AI Revolution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Investment Pitch  •  Confidential  •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51560"/>
            <a:ext cx="1828800" cy="38100"/>
          </a:xfrm>
          <a:prstGeom prst="rect">
            <a:avLst/>
          </a:prstGeom>
          <a:solidFill>
            <a:srgbClr val="E5F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3272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BBBBBB"/>
                </a:solidFill>
                <a:latin typeface="Calibri"/>
              </a:defRPr>
            </a:pPr>
            <a:r>
              <a:rPr dirty="0"/>
              <a:t>AI compute demand is exploding — </a:t>
            </a:r>
            <a:r>
              <a:rPr dirty="0" err="1"/>
              <a:t>OpenAI</a:t>
            </a:r>
            <a:r>
              <a:rPr dirty="0"/>
              <a:t>, Anthropic, and thousands of startups need GPUs 24/7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BBBBBB"/>
                </a:solidFill>
                <a:latin typeface="Calibri"/>
              </a:defRPr>
            </a:pPr>
            <a:r>
              <a:rPr dirty="0"/>
              <a:t>Cloud providers (AWS, Azure, GCP) have 80%+ margins on GPU rentals; a $30K GPU rents for $120K+/year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BBBBBB"/>
                </a:solidFill>
                <a:latin typeface="Calibri"/>
              </a:defRPr>
            </a:pPr>
            <a:r>
              <a:rPr dirty="0"/>
              <a:t>Waitlists for H100/A100 clusters stretch months; smaller developers are priced out entirely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BBBBBB"/>
                </a:solidFill>
                <a:latin typeface="Calibri"/>
              </a:defRPr>
            </a:pPr>
            <a:r>
              <a:rPr dirty="0"/>
              <a:t>Consumer GPUs (RTX 4090, 5090) sit idle 80%+ of the time in gaming PCs and workstations worldwide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BBBBBB"/>
                </a:solidFill>
                <a:latin typeface="Calibri"/>
              </a:defRPr>
            </a:pPr>
            <a:r>
              <a:rPr dirty="0"/>
              <a:t>Existing decentralized GPU networks lack privacy — your code and data run on untrusted machines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The Market Opportunity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51560"/>
            <a:ext cx="1828800" cy="38100"/>
          </a:xfrm>
          <a:prstGeom prst="rect">
            <a:avLst/>
          </a:prstGeom>
          <a:solidFill>
            <a:srgbClr val="E5F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2468880" cy="228600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5E6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29968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5FF52"/>
                </a:solidFill>
                <a:latin typeface="Calibri"/>
              </a:defRPr>
            </a:pPr>
            <a:r>
              <a:rPr dirty="0"/>
              <a:t>$30B+</a:t>
            </a:r>
          </a:p>
          <a:p>
            <a:pPr algn="ctr">
              <a:spcBef>
                <a:spcPts val="800"/>
              </a:spcBef>
              <a:defRPr sz="1500">
                <a:solidFill>
                  <a:srgbClr val="BBBBBB"/>
                </a:solidFill>
                <a:latin typeface="Calibri"/>
              </a:defRPr>
            </a:pPr>
            <a:r>
              <a:rPr dirty="0"/>
              <a:t>Total Addressable Market</a:t>
            </a:r>
            <a:br>
              <a:rPr dirty="0"/>
            </a:br>
            <a:r>
              <a:rPr dirty="0"/>
              <a:t>AI compute by 2028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03320" y="1645920"/>
            <a:ext cx="2468880" cy="228600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5E6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03320" y="2029968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5FF52"/>
                </a:solidFill>
                <a:latin typeface="Calibri"/>
              </a:defRPr>
            </a:pPr>
            <a:r>
              <a:t>34%</a:t>
            </a:r>
          </a:p>
          <a:p>
            <a:pPr algn="ctr">
              <a:spcBef>
                <a:spcPts val="800"/>
              </a:spcBef>
              <a:defRPr sz="1500">
                <a:solidFill>
                  <a:srgbClr val="BBBBBB"/>
                </a:solidFill>
                <a:latin typeface="Calibri"/>
              </a:defRPr>
            </a:pPr>
            <a:r>
              <a:t>CAGR of AI infrastructure</a:t>
            </a:r>
            <a:br/>
            <a:r>
              <a:t>spending through 2030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2468880" cy="228600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5E6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2029968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5FF52"/>
                </a:solidFill>
                <a:latin typeface="Calibri"/>
              </a:defRPr>
            </a:pPr>
            <a:r>
              <a:t>&lt;5%</a:t>
            </a:r>
          </a:p>
          <a:p>
            <a:pPr algn="ctr">
              <a:spcBef>
                <a:spcPts val="800"/>
              </a:spcBef>
              <a:defRPr sz="1500">
                <a:solidFill>
                  <a:srgbClr val="BBBBBB"/>
                </a:solidFill>
                <a:latin typeface="Calibri"/>
              </a:defRPr>
            </a:pPr>
            <a:r>
              <a:t>Decentralized GPU market</a:t>
            </a:r>
            <a:br/>
            <a:r>
              <a:t>penetration today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81159" y="1645920"/>
            <a:ext cx="2468880" cy="228600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5E6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81159" y="2029968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5FF52"/>
                </a:solidFill>
                <a:latin typeface="Calibri"/>
              </a:defRPr>
            </a:pPr>
            <a:r>
              <a:t>2B+</a:t>
            </a:r>
          </a:p>
          <a:p>
            <a:pPr algn="ctr">
              <a:spcBef>
                <a:spcPts val="800"/>
              </a:spcBef>
              <a:defRPr sz="1500">
                <a:solidFill>
                  <a:srgbClr val="BBBBBB"/>
                </a:solidFill>
                <a:latin typeface="Calibri"/>
              </a:defRPr>
            </a:pPr>
            <a:r>
              <a:t>Consumer GPUs installed</a:t>
            </a:r>
            <a:br/>
            <a:r>
              <a:t>base worldwide (idle 80%)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89120"/>
            <a:ext cx="10058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defRPr sz="1800" b="0">
                <a:solidFill>
                  <a:srgbClr val="BBBBBB"/>
                </a:solidFill>
                <a:latin typeface="Calibri"/>
              </a:defRPr>
            </a:pPr>
            <a:r>
              <a:rPr dirty="0"/>
              <a:t>The GPU shortage is the single biggest bottleneck in AI right now. There are millions of underutilized GPUs in the world — the challenge is not supply, it's </a:t>
            </a:r>
            <a:r>
              <a:rPr dirty="0" smtClean="0"/>
              <a:t>routing.</a:t>
            </a:r>
            <a:endParaRPr lang="en-US" dirty="0" smtClean="0"/>
          </a:p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endParaRPr lang="en-US" dirty="0" smtClean="0"/>
          </a:p>
          <a:p>
            <a:pPr marL="285750" indent="-285750" algn="l">
              <a:buFont typeface="Arial" panose="020B0604020202020204" pitchFamily="34" charset="0"/>
              <a:buChar char="•"/>
              <a:defRPr sz="1800" b="0">
                <a:solidFill>
                  <a:srgbClr val="BBBBBB"/>
                </a:solidFill>
                <a:latin typeface="Calibri"/>
              </a:defRPr>
            </a:pPr>
            <a:r>
              <a:rPr dirty="0" err="1" smtClean="0"/>
              <a:t>Tenxo</a:t>
            </a:r>
            <a:r>
              <a:rPr dirty="0" smtClean="0"/>
              <a:t> </a:t>
            </a:r>
            <a:r>
              <a:rPr dirty="0"/>
              <a:t>bridges this gap with a privacy-first marketplace.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86959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Why Current Solutions Don't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51560"/>
            <a:ext cx="1828800" cy="38100"/>
          </a:xfrm>
          <a:prstGeom prst="rect">
            <a:avLst/>
          </a:prstGeom>
          <a:solidFill>
            <a:srgbClr val="E5F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755648"/>
            <a:ext cx="3383280" cy="82296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5E6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Cloud Giants</a:t>
            </a:r>
            <a:br/>
            <a:r>
              <a:t>(AWS, GCP, Azure)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35224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BBBBB"/>
                </a:solidFill>
                <a:latin typeface="Calibri"/>
              </a:defRPr>
            </a:pPr>
            <a:r>
              <a:rPr dirty="0"/>
              <a:t>3-5x markup on hardware costs</a:t>
            </a:r>
          </a:p>
          <a:p>
            <a:pPr>
              <a:spcAft>
                <a:spcPts val="800"/>
              </a:spcAft>
              <a:defRPr sz="1600">
                <a:solidFill>
                  <a:srgbClr val="BBBBBB"/>
                </a:solidFill>
                <a:latin typeface="Calibri"/>
              </a:defRPr>
            </a:pPr>
            <a:r>
              <a:rPr dirty="0"/>
              <a:t>Months-long waitlists for high-end GPUs</a:t>
            </a:r>
          </a:p>
          <a:p>
            <a:pPr>
              <a:spcAft>
                <a:spcPts val="800"/>
              </a:spcAft>
              <a:defRPr sz="1600">
                <a:solidFill>
                  <a:srgbClr val="BBBBBB"/>
                </a:solidFill>
                <a:latin typeface="Calibri"/>
              </a:defRPr>
            </a:pPr>
            <a:r>
              <a:rPr dirty="0"/>
              <a:t>Vendor lock-in;  egress fees trap customers</a:t>
            </a:r>
          </a:p>
          <a:p>
            <a:pPr>
              <a:spcAft>
                <a:spcPts val="800"/>
              </a:spcAft>
              <a:defRPr sz="1600">
                <a:solidFill>
                  <a:srgbClr val="BBBBBB"/>
                </a:solidFill>
                <a:latin typeface="Calibri"/>
              </a:defRPr>
            </a:pPr>
            <a:r>
              <a:rPr dirty="0"/>
              <a:t>Centralized — single point of failure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1755648"/>
            <a:ext cx="3383280" cy="82296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5E6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Existing Decentralized</a:t>
            </a:r>
            <a:br/>
            <a:r>
              <a:t>GPU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39" y="2935224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BBBBB"/>
                </a:solidFill>
                <a:latin typeface="Calibri"/>
              </a:defRPr>
            </a:pPr>
            <a:r>
              <a:t>Your code runs on untrusted machines — no privacy</a:t>
            </a:r>
          </a:p>
          <a:p>
            <a:pPr>
              <a:spcAft>
                <a:spcPts val="800"/>
              </a:spcAft>
              <a:defRPr sz="1600">
                <a:solidFill>
                  <a:srgbClr val="BBBBBB"/>
                </a:solidFill>
                <a:latin typeface="Calibri"/>
              </a:defRPr>
            </a:pPr>
            <a:r>
              <a:t>No attestation; no guarantee the work is done correctly</a:t>
            </a:r>
          </a:p>
          <a:p>
            <a:pPr>
              <a:spcAft>
                <a:spcPts val="800"/>
              </a:spcAft>
              <a:defRPr sz="1600">
                <a:solidFill>
                  <a:srgbClr val="BBBBBB"/>
                </a:solidFill>
                <a:latin typeface="Calibri"/>
              </a:defRPr>
            </a:pPr>
            <a:r>
              <a:t>Often require crypto tokens (volatility, regulatory risk)</a:t>
            </a:r>
          </a:p>
          <a:p>
            <a:pPr>
              <a:spcAft>
                <a:spcPts val="800"/>
              </a:spcAft>
              <a:defRPr sz="1600">
                <a:solidFill>
                  <a:srgbClr val="BBBBBB"/>
                </a:solidFill>
                <a:latin typeface="Calibri"/>
              </a:defRPr>
            </a:pPr>
            <a:r>
              <a:t>Poor developer experience; CLI/API is an afterthought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755648"/>
            <a:ext cx="3383280" cy="82296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5E6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Do It Yourself</a:t>
            </a:r>
            <a:br/>
            <a:r>
              <a:t>(Self-hosted)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935224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BBBBB"/>
                </a:solidFill>
                <a:latin typeface="Calibri"/>
              </a:defRPr>
            </a:pPr>
            <a:r>
              <a:t>High upfront capital: $30K+ per GPU server</a:t>
            </a:r>
          </a:p>
          <a:p>
            <a:pPr>
              <a:spcAft>
                <a:spcPts val="800"/>
              </a:spcAft>
              <a:defRPr sz="1600">
                <a:solidFill>
                  <a:srgbClr val="BBBBBB"/>
                </a:solidFill>
                <a:latin typeface="Calibri"/>
              </a:defRPr>
            </a:pPr>
            <a:r>
              <a:t>Electricity, cooling, networking, maintenance overhead</a:t>
            </a:r>
          </a:p>
          <a:p>
            <a:pPr>
              <a:spcAft>
                <a:spcPts val="800"/>
              </a:spcAft>
              <a:defRPr sz="1600">
                <a:solidFill>
                  <a:srgbClr val="BBBBBB"/>
                </a:solidFill>
                <a:latin typeface="Calibri"/>
              </a:defRPr>
            </a:pPr>
            <a:r>
              <a:t>Inflexible — can't burst when demand spikes</a:t>
            </a:r>
          </a:p>
          <a:p>
            <a:pPr>
              <a:spcAft>
                <a:spcPts val="800"/>
              </a:spcAft>
              <a:defRPr sz="1600">
                <a:solidFill>
                  <a:srgbClr val="BBBBBB"/>
                </a:solidFill>
                <a:latin typeface="Calibri"/>
              </a:defRPr>
            </a:pPr>
            <a:r>
              <a:t>Not viable for startups or individual developers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5FF52"/>
                </a:solidFill>
                <a:latin typeface="Calibri"/>
              </a:defRPr>
            </a:pPr>
            <a:r>
              <a:t>Tenxo is the first marketplace that combines decentralized GPU supply with hardware-guaranteed privacy.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What Makes Tenxo Different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51560"/>
            <a:ext cx="1828800" cy="38100"/>
          </a:xfrm>
          <a:prstGeom prst="rect">
            <a:avLst/>
          </a:prstGeom>
          <a:solidFill>
            <a:srgbClr val="E5F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5212080" cy="201168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5E6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5FF52"/>
                </a:solidFill>
                <a:latin typeface="Calibri"/>
              </a:defRPr>
            </a:pPr>
            <a:r>
              <a:t>Privacy, by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01168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Your code and data are encrypted end-to-end. The platform never sees plaintext — not the matchmaker, not the provider.</a:t>
            </a:r>
            <a:br/>
            <a:r>
              <a:t>Guaranteed by hardware TEE attestation (AMD SEV-SNP).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463040"/>
            <a:ext cx="5212080" cy="201168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5E6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5FF52"/>
                </a:solidFill>
                <a:latin typeface="Calibri"/>
              </a:defRPr>
            </a:pPr>
            <a:r>
              <a:t>Zero-Knowledge Routing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01168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Smart routing connects developers to idle GPUs without exposing workloads. Think of it like Uber for GPUs — but with military-grade privacy.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840480"/>
            <a:ext cx="5212080" cy="201168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5E6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39776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5FF52"/>
                </a:solidFill>
                <a:latin typeface="Calibri"/>
              </a:defRPr>
            </a:pPr>
            <a:r>
              <a:t>Fiat Payments, No Crypto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38912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Pay with credit card or UPI. No tokens, no volatility, no regulatory grey areas. Developers just pay for compute; providers just get paid.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3840480"/>
            <a:ext cx="5212080" cy="201168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5E6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66560" y="39776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5FF52"/>
                </a:solidFill>
                <a:latin typeface="Calibri"/>
              </a:defRPr>
            </a:pPr>
            <a:r>
              <a:t>Consumer GPU Economics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38912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RTX 4090 at $0.15/hr vs cloud prices of $1.50+/hr. GPU owners earn passive income — we unlock supply that doesn't exist in any data center today.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How Tenxo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51560"/>
            <a:ext cx="1828800" cy="38100"/>
          </a:xfrm>
          <a:prstGeom prst="rect">
            <a:avLst/>
          </a:prstGeom>
          <a:solidFill>
            <a:srgbClr val="E5F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E6AD2"/>
                </a:solidFill>
                <a:latin typeface="Calibri"/>
              </a:defRPr>
            </a:pPr>
            <a:r>
              <a:t>Simple. Privacy-preserving. No trust required.</a:t>
            </a:r>
          </a:p>
        </p:txBody>
      </p:sp>
      <p:sp>
        <p:nvSpPr>
          <p:cNvPr id="5" name="Oval 4"/>
          <p:cNvSpPr/>
          <p:nvPr/>
        </p:nvSpPr>
        <p:spPr>
          <a:xfrm>
            <a:off x="1463040" y="1828800"/>
            <a:ext cx="640080" cy="640080"/>
          </a:xfrm>
          <a:prstGeom prst="ellipse">
            <a:avLst/>
          </a:prstGeom>
          <a:solidFill>
            <a:srgbClr val="5E6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Developer submits</a:t>
            </a:r>
            <a:br/>
            <a:r>
              <a:t>a job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Zip your code, pick</a:t>
            </a:r>
            <a:br/>
            <a:r>
              <a:t>a GPU tier, pay with</a:t>
            </a:r>
            <a:br/>
            <a:r>
              <a:t>your card. Your data</a:t>
            </a:r>
            <a:br/>
            <a:r>
              <a:t>is encrypted before</a:t>
            </a:r>
            <a:br/>
            <a:r>
              <a:t>it leaves your machine.</a:t>
            </a:r>
          </a:p>
        </p:txBody>
      </p:sp>
      <p:sp>
        <p:nvSpPr>
          <p:cNvPr id="8" name="Oval 7"/>
          <p:cNvSpPr/>
          <p:nvPr/>
        </p:nvSpPr>
        <p:spPr>
          <a:xfrm>
            <a:off x="4389120" y="1828800"/>
            <a:ext cx="640080" cy="640080"/>
          </a:xfrm>
          <a:prstGeom prst="ellipse">
            <a:avLst/>
          </a:prstGeom>
          <a:solidFill>
            <a:srgbClr val="5E6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6517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Matchmaker routes</a:t>
            </a:r>
            <a:br/>
            <a:r>
              <a:t>to a GPU provider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20040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Our matchmaker finds</a:t>
            </a:r>
            <a:br/>
            <a:r>
              <a:t>an idle GPU near you.</a:t>
            </a:r>
            <a:br/>
            <a:r>
              <a:t>It never sees your</a:t>
            </a:r>
            <a:br/>
            <a:r>
              <a:t>code, only a routing</a:t>
            </a:r>
            <a:br/>
            <a:r>
              <a:t>address.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0" y="1828800"/>
            <a:ext cx="640080" cy="640080"/>
          </a:xfrm>
          <a:prstGeom prst="ellipse">
            <a:avLst/>
          </a:prstGeom>
          <a:solidFill>
            <a:srgbClr val="5E6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6517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Provider executes</a:t>
            </a:r>
            <a:br/>
            <a:r>
              <a:t>inside hardware TEE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20040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The GPU owner's</a:t>
            </a:r>
            <a:br/>
            <a:r>
              <a:t>machine decrypts and</a:t>
            </a:r>
            <a:br/>
            <a:r>
              <a:t>runs your job inside</a:t>
            </a:r>
            <a:br/>
            <a:r>
              <a:t>a hardware-secured</a:t>
            </a:r>
            <a:br/>
            <a:r>
              <a:t>enclave (AMD SEV-SNP).</a:t>
            </a:r>
          </a:p>
        </p:txBody>
      </p:sp>
      <p:sp>
        <p:nvSpPr>
          <p:cNvPr id="14" name="Oval 13"/>
          <p:cNvSpPr/>
          <p:nvPr/>
        </p:nvSpPr>
        <p:spPr>
          <a:xfrm>
            <a:off x="10241280" y="1828800"/>
            <a:ext cx="640080" cy="640080"/>
          </a:xfrm>
          <a:prstGeom prst="ellipse">
            <a:avLst/>
          </a:prstGeom>
          <a:solidFill>
            <a:srgbClr val="5E6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6517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Encrypted results</a:t>
            </a:r>
            <a:br/>
            <a:r>
              <a:t>return to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320040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The output is re-encrypted</a:t>
            </a:r>
            <a:br/>
            <a:r>
              <a:t>and sent back. Only</a:t>
            </a:r>
            <a:br/>
            <a:r>
              <a:t>you can decrypt it.</a:t>
            </a:r>
            <a:br/>
            <a:r>
              <a:t>Your code never leaks.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51560"/>
            <a:ext cx="1828800" cy="38100"/>
          </a:xfrm>
          <a:prstGeom prst="rect">
            <a:avLst/>
          </a:prstGeom>
          <a:solidFill>
            <a:srgbClr val="E5F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3474720" cy="320040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5E6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85623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5FF52"/>
                </a:solidFill>
                <a:latin typeface="Calibri"/>
              </a:defRPr>
            </a:pPr>
            <a:r>
              <a:rPr dirty="0"/>
              <a:t>Marketplace Commission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79192"/>
            <a:ext cx="3108960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BB"/>
                </a:solidFill>
                <a:latin typeface="Calibri"/>
              </a:defRPr>
            </a:pPr>
            <a:r>
              <a:rPr lang="en-US" dirty="0" smtClean="0"/>
              <a:t>20-25</a:t>
            </a:r>
            <a:r>
              <a:rPr dirty="0" smtClean="0"/>
              <a:t>% </a:t>
            </a:r>
            <a:r>
              <a:rPr dirty="0"/>
              <a:t>platform fee on every transaction.</a:t>
            </a:r>
            <a:br>
              <a:rPr dirty="0"/>
            </a:br>
            <a:r>
              <a:rPr dirty="0"/>
              <a:t>GPU providers keep </a:t>
            </a:r>
            <a:r>
              <a:rPr lang="en-US" dirty="0" smtClean="0"/>
              <a:t>75-80</a:t>
            </a:r>
            <a:r>
              <a:rPr dirty="0" smtClean="0"/>
              <a:t>%.</a:t>
            </a:r>
            <a:r>
              <a:rPr dirty="0"/>
              <a:t/>
            </a:r>
            <a:br>
              <a:rPr dirty="0"/>
            </a:br>
            <a:r>
              <a:rPr dirty="0"/>
              <a:t>Incentives aligned — more volume = more revenue.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554480"/>
            <a:ext cx="3474720" cy="320040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5E6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185623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5FF52"/>
                </a:solidFill>
                <a:latin typeface="Calibri"/>
              </a:defRPr>
            </a:pPr>
            <a:r>
              <a:t>Pay-As-You-Go Pricing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450592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BB"/>
                </a:solidFill>
                <a:latin typeface="Calibri"/>
              </a:defRPr>
            </a:pPr>
            <a:r>
              <a:t>No contracts. No subscriptions.</a:t>
            </a:r>
            <a:br/>
            <a:r>
              <a:t>Developers prepay credits ($10 minimum).</a:t>
            </a:r>
            <a:br/>
            <a:r>
              <a:t>GPU tiers: RTX 4090 ($0.15/hr) to A100 ($0.75/hr).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554480"/>
            <a:ext cx="3474720" cy="320040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5E6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185623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5FF52"/>
                </a:solidFill>
                <a:latin typeface="Calibri"/>
              </a:defRPr>
            </a:pPr>
            <a:r>
              <a:t>Provider Payouts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450592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BB"/>
                </a:solidFill>
                <a:latin typeface="Calibri"/>
              </a:defRPr>
            </a:pPr>
            <a:r>
              <a:t>Weekly payouts to GPU providers.</a:t>
            </a:r>
            <a:br/>
            <a:r>
              <a:t>Low barrier to entry — anyone with a</a:t>
            </a:r>
            <a:br/>
            <a:r>
              <a:t>gaming PC can earn passive income.</a:t>
            </a:r>
            <a:br/>
            <a:r>
              <a:t>Recurring supply, no inventory risk.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212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Calibri"/>
              </a:defRPr>
            </a:pPr>
            <a:r>
              <a:t>Unit economics: At 30% utilization on 1,000 RTX 4090 GPUs → $280K/month revenue (7% of $4M monthly volume).</a:t>
            </a:r>
            <a:br/>
            <a:r>
              <a:t>Margins improve with scale — matchmaker infrastructure is lightweight (Go + NATS).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51560"/>
            <a:ext cx="1828800" cy="38100"/>
          </a:xfrm>
          <a:prstGeom prst="rect">
            <a:avLst/>
          </a:prstGeom>
          <a:solidFill>
            <a:srgbClr val="E5F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0" y="13716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5FF52"/>
                </a:solidFill>
                <a:latin typeface="Calibri"/>
              </a:defRPr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42232" y="13716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5FF52"/>
                </a:solidFill>
                <a:latin typeface="Calibri"/>
              </a:defRPr>
            </a:pPr>
            <a:r>
              <a:rPr dirty="0"/>
              <a:t>Privacy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88152" y="13716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5FF52"/>
                </a:solidFill>
                <a:latin typeface="Calibri"/>
              </a:defRPr>
            </a:pPr>
            <a:r>
              <a:t>Consumer GPUs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34072" y="13716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5FF52"/>
                </a:solidFill>
                <a:latin typeface="Calibri"/>
              </a:defRPr>
            </a:pPr>
            <a:r>
              <a:t>Fiat Payments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79992" y="13716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5FF52"/>
                </a:solidFill>
                <a:latin typeface="Calibri"/>
              </a:defRPr>
            </a:pPr>
            <a:r>
              <a:t>TEE Attestation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1979563"/>
            <a:ext cx="25603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Tenxo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50792" y="1979563"/>
            <a:ext cx="15544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E5FF52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96712" y="1979563"/>
            <a:ext cx="15544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E5FF52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42632" y="1979563"/>
            <a:ext cx="15544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E5FF52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88552" y="1979563"/>
            <a:ext cx="15544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E5FF52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07592" y="2619643"/>
            <a:ext cx="25603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AWS/GCP/Azure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0792" y="2619643"/>
            <a:ext cx="15544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Calibri"/>
              </a:defRPr>
            </a:pPr>
            <a:r>
              <a:t>✗ (they see all)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96712" y="2619643"/>
            <a:ext cx="15544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2632" y="2619643"/>
            <a:ext cx="15544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E5FF52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8552" y="2619643"/>
            <a:ext cx="15544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E5FF52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07592" y="3259723"/>
            <a:ext cx="25603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Render/ML pipelines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50792" y="3259723"/>
            <a:ext cx="15544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96712" y="3259723"/>
            <a:ext cx="15544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2632" y="3259723"/>
            <a:ext cx="15544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E5FF52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8552" y="3259723"/>
            <a:ext cx="15544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07592" y="3899802"/>
            <a:ext cx="25603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Akash Network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50792" y="3899802"/>
            <a:ext cx="15544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96712" y="3899802"/>
            <a:ext cx="15544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E5FF52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42632" y="3899802"/>
            <a:ext cx="15544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Calibri"/>
              </a:defRPr>
            </a:pPr>
            <a:r>
              <a:t>✗ (crypto only)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88552" y="3899802"/>
            <a:ext cx="15544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07592" y="4539883"/>
            <a:ext cx="25603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Golem / iExec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50792" y="4539883"/>
            <a:ext cx="15544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96712" y="4539883"/>
            <a:ext cx="15544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E5FF52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42632" y="4539883"/>
            <a:ext cx="15544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Calibri"/>
              </a:defRPr>
            </a:pPr>
            <a:r>
              <a:t>✗ (crypto only)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88552" y="4539883"/>
            <a:ext cx="15544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07592" y="5179963"/>
            <a:ext cx="25603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RunPod / Vast.ai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50792" y="5179963"/>
            <a:ext cx="15544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Calibri"/>
              </a:defRPr>
            </a:pPr>
            <a:r>
              <a:t>✗ (plaintext)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96712" y="5179963"/>
            <a:ext cx="15544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E5FF52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42632" y="5179963"/>
            <a:ext cx="15544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E5FF52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88552" y="5179963"/>
            <a:ext cx="15544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5FF52"/>
                </a:solidFill>
                <a:latin typeface="Calibri"/>
              </a:defRPr>
            </a:pPr>
            <a:r>
              <a:t>Tenxo is the first platform to combine all four: privacy, consumer GPU economics, fiat payments, and hardware-verified trust.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Traction &amp; Milestones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51560"/>
            <a:ext cx="1828800" cy="38100"/>
          </a:xfrm>
          <a:prstGeom prst="rect">
            <a:avLst/>
          </a:prstGeom>
          <a:solidFill>
            <a:srgbClr val="E5F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5FF52"/>
                </a:solidFill>
                <a:latin typeface="Calibri"/>
              </a:defRPr>
            </a:pPr>
            <a:r>
              <a:t>✅ MVP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End-to-end encrypted job pipeline: pack → encrypt → route → execute → decrypt. Working protocol with zero-knowledge routing.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5FF52"/>
                </a:solidFill>
                <a:latin typeface="Calibri"/>
              </a:defRPr>
            </a:pPr>
            <a:r>
              <a:t>✅ Live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9164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Frontend (tenxo.ai) and backend API deployed on Render. CLI tool published on PyPI. One-command installer for GPU providers.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5FF52"/>
                </a:solidFill>
                <a:latin typeface="Calibri"/>
              </a:defRPr>
            </a:pPr>
            <a:r>
              <a:t>✅ TEE Attestation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AMD SEV-SNP hardware attestation implemented. Platform guarantees workload integrity even on untrusted machines.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651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5FF52"/>
                </a:solidFill>
                <a:latin typeface="Calibri"/>
              </a:defRPr>
            </a:pPr>
            <a:r>
              <a:t>✅ Payment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97180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Razorpay billing live (India). Pay with card or UPI. Provider payout infrastructure designed and ready.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5FF52"/>
                </a:solidFill>
                <a:latin typeface="Calibri"/>
              </a:defRPr>
            </a:pPr>
            <a:r>
              <a:t>✅ Dual-Sided Dashboards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5196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Developer dashboard for job management. Provider dashboard for fleet management and earnings. Supabase auth with role-based access.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9319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5FF52"/>
                </a:solidFill>
                <a:latin typeface="Calibri"/>
              </a:defRPr>
            </a:pPr>
            <a:r>
              <a:t>🔜 Next: Scale Supply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25196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Onboard first 100 GPU providers. Target: 500+ GPUs on the network. Launch provider payout system.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21207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5FF52"/>
                </a:solidFill>
                <a:latin typeface="Calibri"/>
              </a:defRPr>
            </a:pPr>
            <a:r>
              <a:t>🔜 Next: Enterprise Pilots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532119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Partner with 3-5 AI startups for beta. Expand GPU tiers. Add team/billing features.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21207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5FF52"/>
                </a:solidFill>
                <a:latin typeface="Calibri"/>
              </a:defRPr>
            </a:pPr>
            <a:r>
              <a:t>🔜 Next: Global Expansion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5532119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Stripe Connect for global payouts. Additional TEE support (Intel TDX, NVIDIA H100 TEE). Mobile app for provider monitoring.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Why Invest in Tenxo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51560"/>
            <a:ext cx="1828800" cy="38100"/>
          </a:xfrm>
          <a:prstGeom prst="rect">
            <a:avLst/>
          </a:prstGeom>
          <a:solidFill>
            <a:srgbClr val="E5F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5E6AD2"/>
                </a:solidFill>
                <a:latin typeface="Calibri"/>
              </a:defRPr>
            </a:pPr>
            <a:r>
              <a:t>We are building the privacy layer for the AI compute revolution.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5212080" cy="164592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5E6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5FF52"/>
                </a:solidFill>
                <a:latin typeface="Calibri"/>
              </a:defRPr>
            </a:pPr>
            <a:r>
              <a:t>Timing is Perfect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9748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AI compute demand is doubling every 3-4 months. Cloud GPU prices are at all-time highs. Consumers have powerful GPUs sitting idle. The market is ready for a decentralized alternative.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194560"/>
            <a:ext cx="5212080" cy="164592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5E6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23317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5FF52"/>
                </a:solidFill>
                <a:latin typeface="Calibri"/>
              </a:defRPr>
            </a:pPr>
            <a:r>
              <a:t>First-Mover in Privacy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69748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No competitor combines TEE attestation + zero-knowledge routing + consumer GPU economics. We solve the #1 objection to decentralized compute: 'my code will leak'.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5212080" cy="164592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5E6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3434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5FF52"/>
                </a:solidFill>
                <a:latin typeface="Calibri"/>
              </a:defRPr>
            </a:pPr>
            <a:r>
              <a:t>Capital-Efficient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70916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Lightweight Go + NATS matchmaker. Rust edge agent with Docker executor. No need to buy hardware — we aggregate. Our cost to acquire supply is an install script.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206240"/>
            <a:ext cx="5212080" cy="164592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5E6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43434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5FF52"/>
                </a:solidFill>
                <a:latin typeface="Calibri"/>
              </a:defRPr>
            </a:pPr>
            <a:r>
              <a:t>Network Effects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70916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More providers → lower prices → more developers → more volume → more providers. Each side feeds the other. 7% take rate scales with volume.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0" y="1828800"/>
            <a:ext cx="3657600" cy="38100"/>
          </a:xfrm>
          <a:prstGeom prst="rect">
            <a:avLst/>
          </a:prstGeom>
          <a:solidFill>
            <a:srgbClr val="E5F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Let's Unlock the GPU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E6AD2"/>
                </a:solidFill>
                <a:latin typeface="Calibri"/>
              </a:defRPr>
            </a:pPr>
            <a:r>
              <a:t>The compute is there. The demand is there. Tenxo makes it work — privately.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4114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  <a:latin typeface="Calibri"/>
              </a:defRPr>
            </a:pPr>
            <a:r>
              <a:t>tenxo.ai  •  Tanya (vermatanya932@gmail.com)  •  Shailendra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45720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Calibri"/>
              </a:defRPr>
            </a:pPr>
            <a:r>
              <a:t>github.com/Tanya25-05/tenxo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5303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5FF52"/>
                </a:solidFill>
                <a:latin typeface="Calibri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972</Words>
  <Application>Microsoft Office PowerPoint</Application>
  <PresentationFormat>Widescreen</PresentationFormat>
  <Paragraphs>138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account</cp:lastModifiedBy>
  <cp:revision>2</cp:revision>
  <dcterms:created xsi:type="dcterms:W3CDTF">2013-01-27T09:14:16Z</dcterms:created>
  <dcterms:modified xsi:type="dcterms:W3CDTF">2026-05-29T07:17:45Z</dcterms:modified>
  <cp:category/>
</cp:coreProperties>
</file>